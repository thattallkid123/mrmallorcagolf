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D4A3E"/>
          </a:solidFill>
          <a:ln w="12700">
            <a:solidFill>
              <a:srgbClr val="2D4A3E"/>
            </a:solidFill>
            <a:prstDash val="solid"/>
          </a:ln>
        </p:spPr>
      </p:sp>
      <p:sp>
        <p:nvSpPr>
          <p:cNvPr id="3" name="Shape 1"/>
          <p:cNvSpPr/>
          <p:nvPr/>
        </p:nvSpPr>
        <p:spPr>
          <a:xfrm>
            <a:off x="201168" y="0"/>
            <a:ext cx="11987784" cy="73152"/>
          </a:xfrm>
          <a:prstGeom prst="rect">
            <a:avLst/>
          </a:prstGeom>
          <a:solidFill>
            <a:srgbClr val="B8973C"/>
          </a:solidFill>
          <a:ln w="12700">
            <a:solidFill>
              <a:srgbClr val="B8973C"/>
            </a:solidFill>
            <a:prstDash val="solid"/>
          </a:ln>
        </p:spPr>
      </p:sp>
      <p:sp>
        <p:nvSpPr>
          <p:cNvPr id="4" name="Shape 2"/>
          <p:cNvSpPr/>
          <p:nvPr/>
        </p:nvSpPr>
        <p:spPr>
          <a:xfrm>
            <a:off x="201168" y="73152"/>
            <a:ext cx="11987784" cy="1207008"/>
          </a:xfrm>
          <a:prstGeom prst="rect">
            <a:avLst/>
          </a:prstGeom>
          <a:solidFill>
            <a:srgbClr val="1A1916"/>
          </a:solidFill>
          <a:ln w="12700">
            <a:solidFill>
              <a:srgbClr val="1A1916"/>
            </a:solidFill>
            <a:prstDash val="solid"/>
          </a:ln>
        </p:spPr>
      </p:sp>
      <p:sp>
        <p:nvSpPr>
          <p:cNvPr id="5" name="Text 3"/>
          <p:cNvSpPr/>
          <p:nvPr/>
        </p:nvSpPr>
        <p:spPr>
          <a:xfrm>
            <a:off x="384048" y="137160"/>
            <a:ext cx="7315200" cy="292608"/>
          </a:xfrm>
          <a:prstGeom prst="rect">
            <a:avLst/>
          </a:prstGeom>
          <a:noFill/>
          <a:ln/>
        </p:spPr>
        <p:txBody>
          <a:bodyPr wrap="square" lIns="0" tIns="0" rIns="0" bIns="0" rtlCol="0" anchor="ctr"/>
          <a:lstStyle/>
          <a:p>
            <a:pPr indent="0" marL="0">
              <a:buNone/>
            </a:pPr>
            <a:r>
              <a:rPr lang="en-US" sz="900" b="1" spc="400" kern="0" dirty="0">
                <a:solidFill>
                  <a:srgbClr val="B8973C"/>
                </a:solidFill>
                <a:latin typeface="Georgia" pitchFamily="34" charset="0"/>
                <a:ea typeface="Georgia" pitchFamily="34" charset="-122"/>
                <a:cs typeface="Georgia" pitchFamily="34" charset="-120"/>
              </a:rPr>
              <a:t>MR MALLORCA GOLF</a:t>
            </a:r>
            <a:endParaRPr lang="en-US" sz="900" dirty="0"/>
          </a:p>
        </p:txBody>
      </p:sp>
      <p:sp>
        <p:nvSpPr>
          <p:cNvPr id="6" name="Text 4"/>
          <p:cNvSpPr/>
          <p:nvPr/>
        </p:nvSpPr>
        <p:spPr>
          <a:xfrm>
            <a:off x="384048" y="402336"/>
            <a:ext cx="10972800" cy="50292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JULIEN</a:t>
            </a:r>
            <a:endParaRPr lang="en-US" sz="3000" dirty="0"/>
          </a:p>
        </p:txBody>
      </p:sp>
      <p:sp>
        <p:nvSpPr>
          <p:cNvPr id="7" name="Text 5"/>
          <p:cNvSpPr/>
          <p:nvPr/>
        </p:nvSpPr>
        <p:spPr>
          <a:xfrm>
            <a:off x="384048" y="914400"/>
            <a:ext cx="10972800" cy="274320"/>
          </a:xfrm>
          <a:prstGeom prst="rect">
            <a:avLst/>
          </a:prstGeom>
          <a:noFill/>
          <a:ln/>
        </p:spPr>
        <p:txBody>
          <a:bodyPr wrap="square" lIns="0" tIns="0" rIns="0" bIns="0" rtlCol="0" anchor="ctr"/>
          <a:lstStyle/>
          <a:p>
            <a:pPr indent="0" marL="0">
              <a:buNone/>
            </a:pPr>
            <a:r>
              <a:rPr lang="en-US" sz="950" spc="300" kern="0" dirty="0">
                <a:solidFill>
                  <a:srgbClr val="D4B068"/>
                </a:solidFill>
                <a:latin typeface="Calibri" pitchFamily="34" charset="0"/>
                <a:ea typeface="Calibri" pitchFamily="34" charset="-122"/>
                <a:cs typeface="Calibri" pitchFamily="34" charset="-120"/>
              </a:rPr>
              <a:t>PLAYER REVIEW</a:t>
            </a:r>
            <a:endParaRPr lang="en-US" sz="950" dirty="0"/>
          </a:p>
        </p:txBody>
      </p:sp>
      <p:sp>
        <p:nvSpPr>
          <p:cNvPr id="8" name="Shape 6"/>
          <p:cNvSpPr/>
          <p:nvPr/>
        </p:nvSpPr>
        <p:spPr>
          <a:xfrm>
            <a:off x="201168" y="1280160"/>
            <a:ext cx="11987784" cy="36576"/>
          </a:xfrm>
          <a:prstGeom prst="rect">
            <a:avLst/>
          </a:prstGeom>
          <a:solidFill>
            <a:srgbClr val="B8973C"/>
          </a:solidFill>
          <a:ln w="12700">
            <a:solidFill>
              <a:srgbClr val="B8973C"/>
            </a:solidFill>
            <a:prstDash val="solid"/>
          </a:ln>
        </p:spPr>
      </p:sp>
      <p:sp>
        <p:nvSpPr>
          <p:cNvPr id="9" name="Shape 7"/>
          <p:cNvSpPr/>
          <p:nvPr/>
        </p:nvSpPr>
        <p:spPr>
          <a:xfrm>
            <a:off x="201168" y="6583680"/>
            <a:ext cx="11987784" cy="274320"/>
          </a:xfrm>
          <a:prstGeom prst="rect">
            <a:avLst/>
          </a:prstGeom>
          <a:solidFill>
            <a:srgbClr val="1A1916"/>
          </a:solidFill>
          <a:ln w="12700">
            <a:solidFill>
              <a:srgbClr val="1A1916"/>
            </a:solidFill>
            <a:prstDash val="solid"/>
          </a:ln>
        </p:spPr>
      </p:sp>
      <p:sp>
        <p:nvSpPr>
          <p:cNvPr id="10" name="Text 8"/>
          <p:cNvSpPr/>
          <p:nvPr/>
        </p:nvSpPr>
        <p:spPr>
          <a:xfrm>
            <a:off x="384048" y="6583680"/>
            <a:ext cx="11713464" cy="274320"/>
          </a:xfrm>
          <a:prstGeom prst="rect">
            <a:avLst/>
          </a:prstGeom>
          <a:noFill/>
          <a:ln/>
        </p:spPr>
        <p:txBody>
          <a:bodyPr wrap="square" lIns="0" tIns="0" rIns="0" bIns="0" rtlCol="0" anchor="ctr"/>
          <a:lstStyle/>
          <a:p>
            <a:pPr algn="ctr" indent="0" marL="0">
              <a:buNone/>
            </a:pPr>
            <a:r>
              <a:rPr lang="en-US" sz="850" dirty="0">
                <a:solidFill>
                  <a:srgbClr val="8A7F74"/>
                </a:solidFill>
                <a:latin typeface="Calibri" pitchFamily="34" charset="0"/>
                <a:ea typeface="Calibri" pitchFamily="34" charset="-122"/>
                <a:cs typeface="Calibri" pitchFamily="34" charset="-120"/>
              </a:rPr>
              <a:t>andy@mrmallorcagolf.com  ·  mrmallorcagolf.com  ·  +34 624 466 702</a:t>
            </a:r>
            <a:endParaRPr lang="en-US" sz="850" dirty="0"/>
          </a:p>
        </p:txBody>
      </p:sp>
      <p:sp>
        <p:nvSpPr>
          <p:cNvPr id="11" name="Shape 9"/>
          <p:cNvSpPr/>
          <p:nvPr/>
        </p:nvSpPr>
        <p:spPr>
          <a:xfrm>
            <a:off x="320040" y="1417320"/>
            <a:ext cx="5692140" cy="301752"/>
          </a:xfrm>
          <a:prstGeom prst="rect">
            <a:avLst/>
          </a:prstGeom>
          <a:solidFill>
            <a:srgbClr val="2D4A3E"/>
          </a:solidFill>
          <a:ln w="12700">
            <a:solidFill>
              <a:srgbClr val="2D4A3E"/>
            </a:solidFill>
            <a:prstDash val="solid"/>
          </a:ln>
        </p:spPr>
      </p:sp>
      <p:sp>
        <p:nvSpPr>
          <p:cNvPr id="12" name="Text 10"/>
          <p:cNvSpPr/>
          <p:nvPr/>
        </p:nvSpPr>
        <p:spPr>
          <a:xfrm>
            <a:off x="448056" y="1417320"/>
            <a:ext cx="5527548" cy="301752"/>
          </a:xfrm>
          <a:prstGeom prst="rect">
            <a:avLst/>
          </a:prstGeom>
          <a:noFill/>
          <a:ln/>
        </p:spPr>
        <p:txBody>
          <a:bodyPr wrap="square" lIns="0" tIns="0" rIns="0" bIns="0" rtlCol="0" anchor="ctr"/>
          <a:lstStyle/>
          <a:p>
            <a:pPr indent="0" marL="0">
              <a:buNone/>
            </a:pPr>
            <a:r>
              <a:rPr lang="en-US" sz="850" b="1" spc="200" kern="0" dirty="0">
                <a:solidFill>
                  <a:srgbClr val="D4B068"/>
                </a:solidFill>
                <a:latin typeface="Calibri" pitchFamily="34" charset="0"/>
                <a:ea typeface="Calibri" pitchFamily="34" charset="-122"/>
                <a:cs typeface="Calibri" pitchFamily="34" charset="-120"/>
              </a:rPr>
              <a:t>COURSE MANAGEMENT</a:t>
            </a:r>
            <a:endParaRPr lang="en-US" sz="850" dirty="0"/>
          </a:p>
        </p:txBody>
      </p:sp>
      <p:sp>
        <p:nvSpPr>
          <p:cNvPr id="13" name="Shape 11"/>
          <p:cNvSpPr/>
          <p:nvPr/>
        </p:nvSpPr>
        <p:spPr>
          <a:xfrm>
            <a:off x="320040" y="1719072"/>
            <a:ext cx="5692140" cy="2116836"/>
          </a:xfrm>
          <a:prstGeom prst="rect">
            <a:avLst/>
          </a:prstGeom>
          <a:solidFill>
            <a:srgbClr val="EDE9E1"/>
          </a:solidFill>
          <a:ln w="9525">
            <a:solidFill>
              <a:srgbClr val="E0D8CB"/>
            </a:solidFill>
            <a:prstDash val="solid"/>
          </a:ln>
        </p:spPr>
      </p:sp>
      <p:sp>
        <p:nvSpPr>
          <p:cNvPr id="14" name="Text 12"/>
          <p:cNvSpPr/>
          <p:nvPr/>
        </p:nvSpPr>
        <p:spPr>
          <a:xfrm>
            <a:off x="365760" y="1719072"/>
            <a:ext cx="5600700" cy="2116836"/>
          </a:xfrm>
          <a:prstGeom prst="rect">
            <a:avLst/>
          </a:prstGeom>
          <a:noFill/>
          <a:ln/>
        </p:spPr>
        <p:txBody>
          <a:bodyPr wrap="square" lIns="63500" tIns="101600" rIns="1016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Aim towards the middle of greens and play away from trouble. Your shots have natural dispersion, so simplifying targets and removing danger from one side will almost always improve scoring.</a:t>
            </a:r>
            <a:endParaRPr lang="en-US" sz="1250" dirty="0"/>
          </a:p>
        </p:txBody>
      </p:sp>
      <p:sp>
        <p:nvSpPr>
          <p:cNvPr id="15" name="Shape 13"/>
          <p:cNvSpPr/>
          <p:nvPr/>
        </p:nvSpPr>
        <p:spPr>
          <a:xfrm>
            <a:off x="6176772" y="1417320"/>
            <a:ext cx="5692140" cy="301752"/>
          </a:xfrm>
          <a:prstGeom prst="rect">
            <a:avLst/>
          </a:prstGeom>
          <a:solidFill>
            <a:srgbClr val="2D4A3E"/>
          </a:solidFill>
          <a:ln w="12700">
            <a:solidFill>
              <a:srgbClr val="2D4A3E"/>
            </a:solidFill>
            <a:prstDash val="solid"/>
          </a:ln>
        </p:spPr>
      </p:sp>
      <p:sp>
        <p:nvSpPr>
          <p:cNvPr id="16" name="Text 14"/>
          <p:cNvSpPr/>
          <p:nvPr/>
        </p:nvSpPr>
        <p:spPr>
          <a:xfrm>
            <a:off x="6304788" y="1417320"/>
            <a:ext cx="5527548" cy="301752"/>
          </a:xfrm>
          <a:prstGeom prst="rect">
            <a:avLst/>
          </a:prstGeom>
          <a:noFill/>
          <a:ln/>
        </p:spPr>
        <p:txBody>
          <a:bodyPr wrap="square" lIns="0" tIns="0" rIns="0" bIns="0" rtlCol="0" anchor="ctr"/>
          <a:lstStyle/>
          <a:p>
            <a:pPr indent="0" marL="0">
              <a:buNone/>
            </a:pPr>
            <a:r>
              <a:rPr lang="en-US" sz="850" b="1" spc="200" kern="0" dirty="0">
                <a:solidFill>
                  <a:srgbClr val="D4B068"/>
                </a:solidFill>
                <a:latin typeface="Calibri" pitchFamily="34" charset="0"/>
                <a:ea typeface="Calibri" pitchFamily="34" charset="-122"/>
                <a:cs typeface="Calibri" pitchFamily="34" charset="-120"/>
              </a:rPr>
              <a:t>DISTANCE CONTROL</a:t>
            </a:r>
            <a:endParaRPr lang="en-US" sz="850" dirty="0"/>
          </a:p>
        </p:txBody>
      </p:sp>
      <p:sp>
        <p:nvSpPr>
          <p:cNvPr id="17" name="Shape 15"/>
          <p:cNvSpPr/>
          <p:nvPr/>
        </p:nvSpPr>
        <p:spPr>
          <a:xfrm>
            <a:off x="6176772" y="1719072"/>
            <a:ext cx="5692140" cy="2116836"/>
          </a:xfrm>
          <a:prstGeom prst="rect">
            <a:avLst/>
          </a:prstGeom>
          <a:solidFill>
            <a:srgbClr val="EDE9E1"/>
          </a:solidFill>
          <a:ln w="9525">
            <a:solidFill>
              <a:srgbClr val="E0D8CB"/>
            </a:solidFill>
            <a:prstDash val="solid"/>
          </a:ln>
        </p:spPr>
      </p:sp>
      <p:sp>
        <p:nvSpPr>
          <p:cNvPr id="18" name="Text 16"/>
          <p:cNvSpPr/>
          <p:nvPr/>
        </p:nvSpPr>
        <p:spPr>
          <a:xfrm>
            <a:off x="6222492" y="1719072"/>
            <a:ext cx="5600700" cy="2116836"/>
          </a:xfrm>
          <a:prstGeom prst="rect">
            <a:avLst/>
          </a:prstGeom>
          <a:noFill/>
          <a:ln/>
        </p:spPr>
        <p:txBody>
          <a:bodyPr wrap="square" lIns="63500" tIns="101600" rIns="1016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Getting back on the course regularly will improve your understanding of how far the ball actually carries. Several good strikes today finished the wrong distance — that is a distance-awareness issue, not a strike issue.</a:t>
            </a:r>
            <a:endParaRPr lang="en-US" sz="1250" dirty="0"/>
          </a:p>
        </p:txBody>
      </p:sp>
      <p:sp>
        <p:nvSpPr>
          <p:cNvPr id="19" name="Shape 17"/>
          <p:cNvSpPr/>
          <p:nvPr/>
        </p:nvSpPr>
        <p:spPr>
          <a:xfrm>
            <a:off x="320040" y="4055364"/>
            <a:ext cx="5692140" cy="301752"/>
          </a:xfrm>
          <a:prstGeom prst="rect">
            <a:avLst/>
          </a:prstGeom>
          <a:solidFill>
            <a:srgbClr val="2D4A3E"/>
          </a:solidFill>
          <a:ln w="12700">
            <a:solidFill>
              <a:srgbClr val="2D4A3E"/>
            </a:solidFill>
            <a:prstDash val="solid"/>
          </a:ln>
        </p:spPr>
      </p:sp>
      <p:sp>
        <p:nvSpPr>
          <p:cNvPr id="20" name="Text 18"/>
          <p:cNvSpPr/>
          <p:nvPr/>
        </p:nvSpPr>
        <p:spPr>
          <a:xfrm>
            <a:off x="448056" y="4055364"/>
            <a:ext cx="5527548" cy="301752"/>
          </a:xfrm>
          <a:prstGeom prst="rect">
            <a:avLst/>
          </a:prstGeom>
          <a:noFill/>
          <a:ln/>
        </p:spPr>
        <p:txBody>
          <a:bodyPr wrap="square" lIns="0" tIns="0" rIns="0" bIns="0" rtlCol="0" anchor="ctr"/>
          <a:lstStyle/>
          <a:p>
            <a:pPr indent="0" marL="0">
              <a:buNone/>
            </a:pPr>
            <a:r>
              <a:rPr lang="en-US" sz="850" b="1" spc="200" kern="0" dirty="0">
                <a:solidFill>
                  <a:srgbClr val="D4B068"/>
                </a:solidFill>
                <a:latin typeface="Calibri" pitchFamily="34" charset="0"/>
                <a:ea typeface="Calibri" pitchFamily="34" charset="-122"/>
                <a:cs typeface="Calibri" pitchFamily="34" charset="-120"/>
              </a:rPr>
              <a:t>AROUND THE GREENS</a:t>
            </a:r>
            <a:endParaRPr lang="en-US" sz="850" dirty="0"/>
          </a:p>
        </p:txBody>
      </p:sp>
      <p:sp>
        <p:nvSpPr>
          <p:cNvPr id="21" name="Shape 19"/>
          <p:cNvSpPr/>
          <p:nvPr/>
        </p:nvSpPr>
        <p:spPr>
          <a:xfrm>
            <a:off x="320040" y="4357116"/>
            <a:ext cx="5692140" cy="2116836"/>
          </a:xfrm>
          <a:prstGeom prst="rect">
            <a:avLst/>
          </a:prstGeom>
          <a:solidFill>
            <a:srgbClr val="EDE9E1"/>
          </a:solidFill>
          <a:ln w="9525">
            <a:solidFill>
              <a:srgbClr val="E0D8CB"/>
            </a:solidFill>
            <a:prstDash val="solid"/>
          </a:ln>
        </p:spPr>
      </p:sp>
      <p:sp>
        <p:nvSpPr>
          <p:cNvPr id="22" name="Text 20"/>
          <p:cNvSpPr/>
          <p:nvPr/>
        </p:nvSpPr>
        <p:spPr>
          <a:xfrm>
            <a:off x="365760" y="4357116"/>
            <a:ext cx="5600700" cy="2116836"/>
          </a:xfrm>
          <a:prstGeom prst="rect">
            <a:avLst/>
          </a:prstGeom>
          <a:noFill/>
          <a:ln/>
        </p:spPr>
        <p:txBody>
          <a:bodyPr wrap="square" lIns="63500" tIns="101600" rIns="1016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Pay close attention to landing points and slopes. Several chip shots ran further than expected because the landing zone was downhill. In those situations a lower-running shot is often safer than a high, precise chip to the edge of the green.</a:t>
            </a:r>
            <a:endParaRPr lang="en-US" sz="1250" dirty="0"/>
          </a:p>
        </p:txBody>
      </p:sp>
      <p:sp>
        <p:nvSpPr>
          <p:cNvPr id="23" name="Shape 21"/>
          <p:cNvSpPr/>
          <p:nvPr/>
        </p:nvSpPr>
        <p:spPr>
          <a:xfrm>
            <a:off x="6176772" y="4055364"/>
            <a:ext cx="5692140" cy="301752"/>
          </a:xfrm>
          <a:prstGeom prst="rect">
            <a:avLst/>
          </a:prstGeom>
          <a:solidFill>
            <a:srgbClr val="2D4A3E"/>
          </a:solidFill>
          <a:ln w="12700">
            <a:solidFill>
              <a:srgbClr val="2D4A3E"/>
            </a:solidFill>
            <a:prstDash val="solid"/>
          </a:ln>
        </p:spPr>
      </p:sp>
      <p:sp>
        <p:nvSpPr>
          <p:cNvPr id="24" name="Text 22"/>
          <p:cNvSpPr/>
          <p:nvPr/>
        </p:nvSpPr>
        <p:spPr>
          <a:xfrm>
            <a:off x="6304788" y="4055364"/>
            <a:ext cx="5527548" cy="301752"/>
          </a:xfrm>
          <a:prstGeom prst="rect">
            <a:avLst/>
          </a:prstGeom>
          <a:noFill/>
          <a:ln/>
        </p:spPr>
        <p:txBody>
          <a:bodyPr wrap="square" lIns="0" tIns="0" rIns="0" bIns="0" rtlCol="0" anchor="ctr"/>
          <a:lstStyle/>
          <a:p>
            <a:pPr indent="0" marL="0">
              <a:buNone/>
            </a:pPr>
            <a:r>
              <a:rPr lang="en-US" sz="850" b="1" spc="200" kern="0" dirty="0">
                <a:solidFill>
                  <a:srgbClr val="D4B068"/>
                </a:solidFill>
                <a:latin typeface="Calibri" pitchFamily="34" charset="0"/>
                <a:ea typeface="Calibri" pitchFamily="34" charset="-122"/>
                <a:cs typeface="Calibri" pitchFamily="34" charset="-120"/>
              </a:rPr>
              <a:t>FULL SWING — KEY POINTS</a:t>
            </a:r>
            <a:endParaRPr lang="en-US" sz="850" dirty="0"/>
          </a:p>
        </p:txBody>
      </p:sp>
      <p:sp>
        <p:nvSpPr>
          <p:cNvPr id="25" name="Shape 23"/>
          <p:cNvSpPr/>
          <p:nvPr/>
        </p:nvSpPr>
        <p:spPr>
          <a:xfrm>
            <a:off x="6176772" y="4357116"/>
            <a:ext cx="5692140" cy="2116836"/>
          </a:xfrm>
          <a:prstGeom prst="rect">
            <a:avLst/>
          </a:prstGeom>
          <a:solidFill>
            <a:srgbClr val="EDE9E1"/>
          </a:solidFill>
          <a:ln w="9525">
            <a:solidFill>
              <a:srgbClr val="E0D8CB"/>
            </a:solidFill>
            <a:prstDash val="solid"/>
          </a:ln>
        </p:spPr>
      </p:sp>
      <p:sp>
        <p:nvSpPr>
          <p:cNvPr id="26" name="Text 24"/>
          <p:cNvSpPr/>
          <p:nvPr/>
        </p:nvSpPr>
        <p:spPr>
          <a:xfrm>
            <a:off x="6222492" y="4357116"/>
            <a:ext cx="5600700" cy="2116836"/>
          </a:xfrm>
          <a:prstGeom prst="rect">
            <a:avLst/>
          </a:prstGeom>
          <a:noFill/>
          <a:ln/>
        </p:spPr>
        <p:txBody>
          <a:bodyPr wrap="square" lIns="63500" tIns="101600" rIns="101600" bIns="63500" rtlCol="0" anchor="t"/>
          <a:lstStyle/>
          <a:p>
            <a:pPr marL="127000" indent="-127000">
              <a:spcAft>
                <a:spcPts val="400"/>
              </a:spcAft>
              <a:buSzPct val="100000"/>
              <a:buChar char="–"/>
            </a:pPr>
            <a:r>
              <a:rPr lang="en-US" sz="1250" dirty="0">
                <a:solidFill>
                  <a:srgbClr val="2C2A27"/>
                </a:solidFill>
                <a:latin typeface="Calibri" pitchFamily="34" charset="0"/>
                <a:ea typeface="Calibri" pitchFamily="34" charset="-122"/>
                <a:cs typeface="Calibri" pitchFamily="34" charset="-120"/>
              </a:rPr>
              <a:t>Start with hands slightly further forward at address</a:t>
            </a:r>
            <a:endParaRPr lang="en-US" sz="1250" dirty="0"/>
          </a:p>
          <a:p>
            <a:pPr marL="127000" indent="-127000">
              <a:spcAft>
                <a:spcPts val="400"/>
              </a:spcAft>
              <a:buSzPct val="100000"/>
              <a:buChar char="–"/>
            </a:pPr>
            <a:r>
              <a:rPr lang="en-US" sz="1250" dirty="0">
                <a:solidFill>
                  <a:srgbClr val="2C2A27"/>
                </a:solidFill>
                <a:latin typeface="Calibri" pitchFamily="34" charset="0"/>
                <a:ea typeface="Calibri" pitchFamily="34" charset="-122"/>
                <a:cs typeface="Calibri" pitchFamily="34" charset="-120"/>
              </a:rPr>
              <a:t>Keep more weight forwards at setup</a:t>
            </a:r>
            <a:endParaRPr lang="en-US" sz="1250" dirty="0"/>
          </a:p>
          <a:p>
            <a:pPr marL="127000" indent="-127000">
              <a:spcAft>
                <a:spcPts val="400"/>
              </a:spcAft>
              <a:buSzPct val="100000"/>
              <a:buChar char="–"/>
            </a:pPr>
            <a:r>
              <a:rPr lang="en-US" sz="1250" dirty="0">
                <a:solidFill>
                  <a:srgbClr val="2C2A27"/>
                </a:solidFill>
                <a:latin typeface="Calibri" pitchFamily="34" charset="0"/>
                <a:ea typeface="Calibri" pitchFamily="34" charset="-122"/>
                <a:cs typeface="Calibri" pitchFamily="34" charset="-120"/>
              </a:rPr>
              <a:t>Reduce body movement down and to the right during the swing</a:t>
            </a:r>
            <a:endParaRPr lang="en-US" sz="1250" dirty="0"/>
          </a:p>
          <a:p>
            <a:pPr marL="127000" indent="-127000">
              <a:spcAft>
                <a:spcPts val="400"/>
              </a:spcAft>
              <a:buSzPct val="100000"/>
              <a:buChar char="–"/>
            </a:pPr>
            <a:r>
              <a:rPr lang="en-US" sz="1250" dirty="0">
                <a:solidFill>
                  <a:srgbClr val="2C2A27"/>
                </a:solidFill>
                <a:latin typeface="Calibri" pitchFamily="34" charset="0"/>
                <a:ea typeface="Calibri" pitchFamily="34" charset="-122"/>
                <a:cs typeface="Calibri" pitchFamily="34" charset="-120"/>
              </a:rPr>
              <a:t>Feel more compression through the strike</a:t>
            </a:r>
            <a:endParaRPr lang="en-US" sz="1250" dirty="0"/>
          </a:p>
          <a:p>
            <a:pPr marL="127000" indent="-127000">
              <a:spcAft>
                <a:spcPts val="400"/>
              </a:spcAft>
              <a:buSzPct val="100000"/>
              <a:buChar char="–"/>
            </a:pPr>
            <a:r>
              <a:rPr lang="en-US" sz="1250" dirty="0">
                <a:solidFill>
                  <a:srgbClr val="2C2A27"/>
                </a:solidFill>
                <a:latin typeface="Calibri" pitchFamily="34" charset="0"/>
                <a:ea typeface="Calibri" pitchFamily="34" charset="-122"/>
                <a:cs typeface="Calibri" pitchFamily="34" charset="-120"/>
              </a:rPr>
              <a:t>Ball-then-ground contact, not ground-then-ball</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F"/>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2D4A3E"/>
          </a:solidFill>
          <a:ln w="12700">
            <a:solidFill>
              <a:srgbClr val="2D4A3E"/>
            </a:solidFill>
            <a:prstDash val="solid"/>
          </a:ln>
        </p:spPr>
      </p:sp>
      <p:sp>
        <p:nvSpPr>
          <p:cNvPr id="3" name="Shape 1"/>
          <p:cNvSpPr/>
          <p:nvPr/>
        </p:nvSpPr>
        <p:spPr>
          <a:xfrm>
            <a:off x="201168" y="0"/>
            <a:ext cx="11987784" cy="73152"/>
          </a:xfrm>
          <a:prstGeom prst="rect">
            <a:avLst/>
          </a:prstGeom>
          <a:solidFill>
            <a:srgbClr val="B8973C"/>
          </a:solidFill>
          <a:ln w="12700">
            <a:solidFill>
              <a:srgbClr val="B8973C"/>
            </a:solidFill>
            <a:prstDash val="solid"/>
          </a:ln>
        </p:spPr>
      </p:sp>
      <p:sp>
        <p:nvSpPr>
          <p:cNvPr id="4" name="Shape 2"/>
          <p:cNvSpPr/>
          <p:nvPr/>
        </p:nvSpPr>
        <p:spPr>
          <a:xfrm>
            <a:off x="201168" y="73152"/>
            <a:ext cx="11987784" cy="1207008"/>
          </a:xfrm>
          <a:prstGeom prst="rect">
            <a:avLst/>
          </a:prstGeom>
          <a:solidFill>
            <a:srgbClr val="1A1916"/>
          </a:solidFill>
          <a:ln w="12700">
            <a:solidFill>
              <a:srgbClr val="1A1916"/>
            </a:solidFill>
            <a:prstDash val="solid"/>
          </a:ln>
        </p:spPr>
      </p:sp>
      <p:sp>
        <p:nvSpPr>
          <p:cNvPr id="5" name="Text 3"/>
          <p:cNvSpPr/>
          <p:nvPr/>
        </p:nvSpPr>
        <p:spPr>
          <a:xfrm>
            <a:off x="384048" y="137160"/>
            <a:ext cx="7315200" cy="292608"/>
          </a:xfrm>
          <a:prstGeom prst="rect">
            <a:avLst/>
          </a:prstGeom>
          <a:noFill/>
          <a:ln/>
        </p:spPr>
        <p:txBody>
          <a:bodyPr wrap="square" lIns="0" tIns="0" rIns="0" bIns="0" rtlCol="0" anchor="ctr"/>
          <a:lstStyle/>
          <a:p>
            <a:pPr indent="0" marL="0">
              <a:buNone/>
            </a:pPr>
            <a:r>
              <a:rPr lang="en-US" sz="900" b="1" spc="400" kern="0" dirty="0">
                <a:solidFill>
                  <a:srgbClr val="B8973C"/>
                </a:solidFill>
                <a:latin typeface="Georgia" pitchFamily="34" charset="0"/>
                <a:ea typeface="Georgia" pitchFamily="34" charset="-122"/>
                <a:cs typeface="Georgia" pitchFamily="34" charset="-120"/>
              </a:rPr>
              <a:t>MR MALLORCA GOLF</a:t>
            </a:r>
            <a:endParaRPr lang="en-US" sz="900" dirty="0"/>
          </a:p>
        </p:txBody>
      </p:sp>
      <p:sp>
        <p:nvSpPr>
          <p:cNvPr id="6" name="Text 4"/>
          <p:cNvSpPr/>
          <p:nvPr/>
        </p:nvSpPr>
        <p:spPr>
          <a:xfrm>
            <a:off x="384048" y="402336"/>
            <a:ext cx="10972800" cy="502920"/>
          </a:xfrm>
          <a:prstGeom prst="rect">
            <a:avLst/>
          </a:prstGeom>
          <a:noFill/>
          <a:ln/>
        </p:spPr>
        <p:txBody>
          <a:bodyPr wrap="square" lIns="0" tIns="0" rIns="0" bIns="0" rtlCol="0" anchor="ctr"/>
          <a:lstStyle/>
          <a:p>
            <a:pPr indent="0" marL="0">
              <a:buNone/>
            </a:pPr>
            <a:r>
              <a:rPr lang="en-US" sz="3000" b="1" dirty="0">
                <a:solidFill>
                  <a:srgbClr val="FFFFFF"/>
                </a:solidFill>
                <a:latin typeface="Georgia" pitchFamily="34" charset="0"/>
                <a:ea typeface="Georgia" pitchFamily="34" charset="-122"/>
                <a:cs typeface="Georgia" pitchFamily="34" charset="-120"/>
              </a:rPr>
              <a:t>JULIEN</a:t>
            </a:r>
            <a:endParaRPr lang="en-US" sz="3000" dirty="0"/>
          </a:p>
        </p:txBody>
      </p:sp>
      <p:sp>
        <p:nvSpPr>
          <p:cNvPr id="7" name="Text 5"/>
          <p:cNvSpPr/>
          <p:nvPr/>
        </p:nvSpPr>
        <p:spPr>
          <a:xfrm>
            <a:off x="384048" y="914400"/>
            <a:ext cx="10972800" cy="274320"/>
          </a:xfrm>
          <a:prstGeom prst="rect">
            <a:avLst/>
          </a:prstGeom>
          <a:noFill/>
          <a:ln/>
        </p:spPr>
        <p:txBody>
          <a:bodyPr wrap="square" lIns="0" tIns="0" rIns="0" bIns="0" rtlCol="0" anchor="ctr"/>
          <a:lstStyle/>
          <a:p>
            <a:pPr indent="0" marL="0">
              <a:buNone/>
            </a:pPr>
            <a:r>
              <a:rPr lang="en-US" sz="950" spc="300" kern="0" dirty="0">
                <a:solidFill>
                  <a:srgbClr val="D4B068"/>
                </a:solidFill>
                <a:latin typeface="Calibri" pitchFamily="34" charset="0"/>
                <a:ea typeface="Calibri" pitchFamily="34" charset="-122"/>
                <a:cs typeface="Calibri" pitchFamily="34" charset="-120"/>
              </a:rPr>
              <a:t>SLOPES, BALL FLIGHT &amp; SUMMARY</a:t>
            </a:r>
            <a:endParaRPr lang="en-US" sz="950" dirty="0"/>
          </a:p>
        </p:txBody>
      </p:sp>
      <p:sp>
        <p:nvSpPr>
          <p:cNvPr id="8" name="Shape 6"/>
          <p:cNvSpPr/>
          <p:nvPr/>
        </p:nvSpPr>
        <p:spPr>
          <a:xfrm>
            <a:off x="201168" y="1280160"/>
            <a:ext cx="11987784" cy="36576"/>
          </a:xfrm>
          <a:prstGeom prst="rect">
            <a:avLst/>
          </a:prstGeom>
          <a:solidFill>
            <a:srgbClr val="B8973C"/>
          </a:solidFill>
          <a:ln w="12700">
            <a:solidFill>
              <a:srgbClr val="B8973C"/>
            </a:solidFill>
            <a:prstDash val="solid"/>
          </a:ln>
        </p:spPr>
      </p:sp>
      <p:sp>
        <p:nvSpPr>
          <p:cNvPr id="9" name="Shape 7"/>
          <p:cNvSpPr/>
          <p:nvPr/>
        </p:nvSpPr>
        <p:spPr>
          <a:xfrm>
            <a:off x="201168" y="6583680"/>
            <a:ext cx="11987784" cy="274320"/>
          </a:xfrm>
          <a:prstGeom prst="rect">
            <a:avLst/>
          </a:prstGeom>
          <a:solidFill>
            <a:srgbClr val="1A1916"/>
          </a:solidFill>
          <a:ln w="12700">
            <a:solidFill>
              <a:srgbClr val="1A1916"/>
            </a:solidFill>
            <a:prstDash val="solid"/>
          </a:ln>
        </p:spPr>
      </p:sp>
      <p:sp>
        <p:nvSpPr>
          <p:cNvPr id="10" name="Text 8"/>
          <p:cNvSpPr/>
          <p:nvPr/>
        </p:nvSpPr>
        <p:spPr>
          <a:xfrm>
            <a:off x="384048" y="6583680"/>
            <a:ext cx="11713464" cy="274320"/>
          </a:xfrm>
          <a:prstGeom prst="rect">
            <a:avLst/>
          </a:prstGeom>
          <a:noFill/>
          <a:ln/>
        </p:spPr>
        <p:txBody>
          <a:bodyPr wrap="square" lIns="0" tIns="0" rIns="0" bIns="0" rtlCol="0" anchor="ctr"/>
          <a:lstStyle/>
          <a:p>
            <a:pPr algn="ctr" indent="0" marL="0">
              <a:buNone/>
            </a:pPr>
            <a:r>
              <a:rPr lang="en-US" sz="850" dirty="0">
                <a:solidFill>
                  <a:srgbClr val="8A7F74"/>
                </a:solidFill>
                <a:latin typeface="Calibri" pitchFamily="34" charset="0"/>
                <a:ea typeface="Calibri" pitchFamily="34" charset="-122"/>
                <a:cs typeface="Calibri" pitchFamily="34" charset="-120"/>
              </a:rPr>
              <a:t>andy@mrmallorcagolf.com  ·  mrmallorcagolf.com  ·  +34 624 466 702</a:t>
            </a:r>
            <a:endParaRPr lang="en-US" sz="850" dirty="0"/>
          </a:p>
        </p:txBody>
      </p:sp>
      <p:sp>
        <p:nvSpPr>
          <p:cNvPr id="11" name="Shape 9"/>
          <p:cNvSpPr/>
          <p:nvPr/>
        </p:nvSpPr>
        <p:spPr>
          <a:xfrm>
            <a:off x="320040" y="1417320"/>
            <a:ext cx="11548872" cy="301752"/>
          </a:xfrm>
          <a:prstGeom prst="rect">
            <a:avLst/>
          </a:prstGeom>
          <a:solidFill>
            <a:srgbClr val="2D4A3E"/>
          </a:solidFill>
          <a:ln w="12700">
            <a:solidFill>
              <a:srgbClr val="2D4A3E"/>
            </a:solidFill>
            <a:prstDash val="solid"/>
          </a:ln>
        </p:spPr>
      </p:sp>
      <p:sp>
        <p:nvSpPr>
          <p:cNvPr id="12" name="Text 10"/>
          <p:cNvSpPr/>
          <p:nvPr/>
        </p:nvSpPr>
        <p:spPr>
          <a:xfrm>
            <a:off x="448056" y="1417320"/>
            <a:ext cx="11384280" cy="301752"/>
          </a:xfrm>
          <a:prstGeom prst="rect">
            <a:avLst/>
          </a:prstGeom>
          <a:noFill/>
          <a:ln/>
        </p:spPr>
        <p:txBody>
          <a:bodyPr wrap="square" lIns="0" tIns="0" rIns="0" bIns="0" rtlCol="0" anchor="ctr"/>
          <a:lstStyle/>
          <a:p>
            <a:pPr indent="0" marL="0">
              <a:buNone/>
            </a:pPr>
            <a:r>
              <a:rPr lang="en-US" sz="850" b="1" spc="200" kern="0" dirty="0">
                <a:solidFill>
                  <a:srgbClr val="D4B068"/>
                </a:solidFill>
                <a:latin typeface="Calibri" pitchFamily="34" charset="0"/>
                <a:ea typeface="Calibri" pitchFamily="34" charset="-122"/>
                <a:cs typeface="Calibri" pitchFamily="34" charset="-120"/>
              </a:rPr>
              <a:t>UNDERSTANDING SLOPES &amp; BALL FLIGHT</a:t>
            </a:r>
            <a:endParaRPr lang="en-US" sz="850" dirty="0"/>
          </a:p>
        </p:txBody>
      </p:sp>
      <p:sp>
        <p:nvSpPr>
          <p:cNvPr id="13" name="Shape 11"/>
          <p:cNvSpPr/>
          <p:nvPr/>
        </p:nvSpPr>
        <p:spPr>
          <a:xfrm>
            <a:off x="320040" y="1719072"/>
            <a:ext cx="11548872" cy="1069848"/>
          </a:xfrm>
          <a:prstGeom prst="rect">
            <a:avLst/>
          </a:prstGeom>
          <a:solidFill>
            <a:srgbClr val="EDE9E1"/>
          </a:solidFill>
          <a:ln w="9525">
            <a:solidFill>
              <a:srgbClr val="E0D8CB"/>
            </a:solidFill>
            <a:prstDash val="solid"/>
          </a:ln>
        </p:spPr>
      </p:sp>
      <p:sp>
        <p:nvSpPr>
          <p:cNvPr id="14" name="Text 12"/>
          <p:cNvSpPr/>
          <p:nvPr/>
        </p:nvSpPr>
        <p:spPr>
          <a:xfrm>
            <a:off x="365760" y="1719072"/>
            <a:ext cx="11457432" cy="1069848"/>
          </a:xfrm>
          <a:prstGeom prst="rect">
            <a:avLst/>
          </a:prstGeom>
          <a:noFill/>
          <a:ln/>
        </p:spPr>
        <p:txBody>
          <a:bodyPr wrap="square" lIns="63500" tIns="101600" rIns="1016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The same way a ball rolls on a slope is generally the effect that slope has on direction. When the ball is above your feet, the shot will naturally tend to move more left. Counter this by gripping shorter, aiming slightly right, and taking more club with a softer swing.</a:t>
            </a:r>
            <a:endParaRPr lang="en-US" sz="1250" dirty="0"/>
          </a:p>
        </p:txBody>
      </p:sp>
      <p:sp>
        <p:nvSpPr>
          <p:cNvPr id="15" name="Shape 13"/>
          <p:cNvSpPr/>
          <p:nvPr/>
        </p:nvSpPr>
        <p:spPr>
          <a:xfrm>
            <a:off x="320040" y="2971800"/>
            <a:ext cx="3739896" cy="301752"/>
          </a:xfrm>
          <a:prstGeom prst="rect">
            <a:avLst/>
          </a:prstGeom>
          <a:solidFill>
            <a:srgbClr val="3D6455"/>
          </a:solidFill>
          <a:ln w="12700">
            <a:solidFill>
              <a:srgbClr val="3D6455"/>
            </a:solidFill>
            <a:prstDash val="solid"/>
          </a:ln>
        </p:spPr>
      </p:sp>
      <p:sp>
        <p:nvSpPr>
          <p:cNvPr id="16" name="Text 14"/>
          <p:cNvSpPr/>
          <p:nvPr/>
        </p:nvSpPr>
        <p:spPr>
          <a:xfrm>
            <a:off x="429768" y="2971800"/>
            <a:ext cx="3593592" cy="301752"/>
          </a:xfrm>
          <a:prstGeom prst="rect">
            <a:avLst/>
          </a:prstGeom>
          <a:noFill/>
          <a:ln/>
        </p:spPr>
        <p:txBody>
          <a:bodyPr wrap="square" lIns="0" tIns="0" rIns="0" bIns="0" rtlCol="0" anchor="ctr"/>
          <a:lstStyle/>
          <a:p>
            <a:pPr indent="0" marL="0">
              <a:buNone/>
            </a:pPr>
            <a:r>
              <a:rPr lang="en-US" sz="850" b="1" spc="150" kern="0" dirty="0">
                <a:solidFill>
                  <a:srgbClr val="D4B068"/>
                </a:solidFill>
                <a:latin typeface="Calibri" pitchFamily="34" charset="0"/>
                <a:ea typeface="Calibri" pitchFamily="34" charset="-122"/>
                <a:cs typeface="Calibri" pitchFamily="34" charset="-120"/>
              </a:rPr>
              <a:t>GRIP SHORTER</a:t>
            </a:r>
            <a:endParaRPr lang="en-US" sz="850" dirty="0"/>
          </a:p>
        </p:txBody>
      </p:sp>
      <p:sp>
        <p:nvSpPr>
          <p:cNvPr id="17" name="Shape 15"/>
          <p:cNvSpPr/>
          <p:nvPr/>
        </p:nvSpPr>
        <p:spPr>
          <a:xfrm>
            <a:off x="320040" y="3273552"/>
            <a:ext cx="3739896" cy="1252728"/>
          </a:xfrm>
          <a:prstGeom prst="rect">
            <a:avLst/>
          </a:prstGeom>
          <a:solidFill>
            <a:srgbClr val="EDE9E1"/>
          </a:solidFill>
          <a:ln w="9525">
            <a:solidFill>
              <a:srgbClr val="E0D8CB"/>
            </a:solidFill>
            <a:prstDash val="solid"/>
          </a:ln>
        </p:spPr>
      </p:sp>
      <p:sp>
        <p:nvSpPr>
          <p:cNvPr id="18" name="Text 16"/>
          <p:cNvSpPr/>
          <p:nvPr/>
        </p:nvSpPr>
        <p:spPr>
          <a:xfrm>
            <a:off x="411480" y="3273552"/>
            <a:ext cx="3557016" cy="1252728"/>
          </a:xfrm>
          <a:prstGeom prst="rect">
            <a:avLst/>
          </a:prstGeom>
          <a:noFill/>
          <a:ln/>
        </p:spPr>
        <p:txBody>
          <a:bodyPr wrap="square" lIns="63500" tIns="76200" rIns="762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Choke down on the club to gain control. This also reduces distance slightly, which is fine — you are taking more club.</a:t>
            </a:r>
            <a:endParaRPr lang="en-US" sz="1250" dirty="0"/>
          </a:p>
        </p:txBody>
      </p:sp>
      <p:sp>
        <p:nvSpPr>
          <p:cNvPr id="19" name="Shape 17"/>
          <p:cNvSpPr/>
          <p:nvPr/>
        </p:nvSpPr>
        <p:spPr>
          <a:xfrm>
            <a:off x="4224528" y="2971800"/>
            <a:ext cx="3739896" cy="301752"/>
          </a:xfrm>
          <a:prstGeom prst="rect">
            <a:avLst/>
          </a:prstGeom>
          <a:solidFill>
            <a:srgbClr val="3D6455"/>
          </a:solidFill>
          <a:ln w="12700">
            <a:solidFill>
              <a:srgbClr val="3D6455"/>
            </a:solidFill>
            <a:prstDash val="solid"/>
          </a:ln>
        </p:spPr>
      </p:sp>
      <p:sp>
        <p:nvSpPr>
          <p:cNvPr id="20" name="Text 18"/>
          <p:cNvSpPr/>
          <p:nvPr/>
        </p:nvSpPr>
        <p:spPr>
          <a:xfrm>
            <a:off x="4334256" y="2971800"/>
            <a:ext cx="3593592" cy="301752"/>
          </a:xfrm>
          <a:prstGeom prst="rect">
            <a:avLst/>
          </a:prstGeom>
          <a:noFill/>
          <a:ln/>
        </p:spPr>
        <p:txBody>
          <a:bodyPr wrap="square" lIns="0" tIns="0" rIns="0" bIns="0" rtlCol="0" anchor="ctr"/>
          <a:lstStyle/>
          <a:p>
            <a:pPr indent="0" marL="0">
              <a:buNone/>
            </a:pPr>
            <a:r>
              <a:rPr lang="en-US" sz="850" b="1" spc="150" kern="0" dirty="0">
                <a:solidFill>
                  <a:srgbClr val="D4B068"/>
                </a:solidFill>
                <a:latin typeface="Calibri" pitchFamily="34" charset="0"/>
                <a:ea typeface="Calibri" pitchFamily="34" charset="-122"/>
                <a:cs typeface="Calibri" pitchFamily="34" charset="-120"/>
              </a:rPr>
              <a:t>AIM RIGHT</a:t>
            </a:r>
            <a:endParaRPr lang="en-US" sz="850" dirty="0"/>
          </a:p>
        </p:txBody>
      </p:sp>
      <p:sp>
        <p:nvSpPr>
          <p:cNvPr id="21" name="Shape 19"/>
          <p:cNvSpPr/>
          <p:nvPr/>
        </p:nvSpPr>
        <p:spPr>
          <a:xfrm>
            <a:off x="4224528" y="3273552"/>
            <a:ext cx="3739896" cy="1252728"/>
          </a:xfrm>
          <a:prstGeom prst="rect">
            <a:avLst/>
          </a:prstGeom>
          <a:solidFill>
            <a:srgbClr val="EDE9E1"/>
          </a:solidFill>
          <a:ln w="9525">
            <a:solidFill>
              <a:srgbClr val="E0D8CB"/>
            </a:solidFill>
            <a:prstDash val="solid"/>
          </a:ln>
        </p:spPr>
      </p:sp>
      <p:sp>
        <p:nvSpPr>
          <p:cNvPr id="22" name="Text 20"/>
          <p:cNvSpPr/>
          <p:nvPr/>
        </p:nvSpPr>
        <p:spPr>
          <a:xfrm>
            <a:off x="4315968" y="3273552"/>
            <a:ext cx="3557016" cy="1252728"/>
          </a:xfrm>
          <a:prstGeom prst="rect">
            <a:avLst/>
          </a:prstGeom>
          <a:noFill/>
          <a:ln/>
        </p:spPr>
        <p:txBody>
          <a:bodyPr wrap="square" lIns="63500" tIns="76200" rIns="762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Allow for the natural left curve. Aim a little further right at address so the ball finishes on target.</a:t>
            </a:r>
            <a:endParaRPr lang="en-US" sz="1250" dirty="0"/>
          </a:p>
        </p:txBody>
      </p:sp>
      <p:sp>
        <p:nvSpPr>
          <p:cNvPr id="23" name="Shape 21"/>
          <p:cNvSpPr/>
          <p:nvPr/>
        </p:nvSpPr>
        <p:spPr>
          <a:xfrm>
            <a:off x="8129016" y="2971800"/>
            <a:ext cx="3739896" cy="301752"/>
          </a:xfrm>
          <a:prstGeom prst="rect">
            <a:avLst/>
          </a:prstGeom>
          <a:solidFill>
            <a:srgbClr val="3D6455"/>
          </a:solidFill>
          <a:ln w="12700">
            <a:solidFill>
              <a:srgbClr val="3D6455"/>
            </a:solidFill>
            <a:prstDash val="solid"/>
          </a:ln>
        </p:spPr>
      </p:sp>
      <p:sp>
        <p:nvSpPr>
          <p:cNvPr id="24" name="Text 22"/>
          <p:cNvSpPr/>
          <p:nvPr/>
        </p:nvSpPr>
        <p:spPr>
          <a:xfrm>
            <a:off x="8238744" y="2971800"/>
            <a:ext cx="3593592" cy="301752"/>
          </a:xfrm>
          <a:prstGeom prst="rect">
            <a:avLst/>
          </a:prstGeom>
          <a:noFill/>
          <a:ln/>
        </p:spPr>
        <p:txBody>
          <a:bodyPr wrap="square" lIns="0" tIns="0" rIns="0" bIns="0" rtlCol="0" anchor="ctr"/>
          <a:lstStyle/>
          <a:p>
            <a:pPr indent="0" marL="0">
              <a:buNone/>
            </a:pPr>
            <a:r>
              <a:rPr lang="en-US" sz="850" b="1" spc="150" kern="0" dirty="0">
                <a:solidFill>
                  <a:srgbClr val="D4B068"/>
                </a:solidFill>
                <a:latin typeface="Calibri" pitchFamily="34" charset="0"/>
                <a:ea typeface="Calibri" pitchFamily="34" charset="-122"/>
                <a:cs typeface="Calibri" pitchFamily="34" charset="-120"/>
              </a:rPr>
              <a:t>MORE CLUB, SOFTER SWING</a:t>
            </a:r>
            <a:endParaRPr lang="en-US" sz="850" dirty="0"/>
          </a:p>
        </p:txBody>
      </p:sp>
      <p:sp>
        <p:nvSpPr>
          <p:cNvPr id="25" name="Shape 23"/>
          <p:cNvSpPr/>
          <p:nvPr/>
        </p:nvSpPr>
        <p:spPr>
          <a:xfrm>
            <a:off x="8129016" y="3273552"/>
            <a:ext cx="3739896" cy="1252728"/>
          </a:xfrm>
          <a:prstGeom prst="rect">
            <a:avLst/>
          </a:prstGeom>
          <a:solidFill>
            <a:srgbClr val="EDE9E1"/>
          </a:solidFill>
          <a:ln w="9525">
            <a:solidFill>
              <a:srgbClr val="E0D8CB"/>
            </a:solidFill>
            <a:prstDash val="solid"/>
          </a:ln>
        </p:spPr>
      </p:sp>
      <p:sp>
        <p:nvSpPr>
          <p:cNvPr id="26" name="Text 24"/>
          <p:cNvSpPr/>
          <p:nvPr/>
        </p:nvSpPr>
        <p:spPr>
          <a:xfrm>
            <a:off x="8220456" y="3273552"/>
            <a:ext cx="3557016" cy="1252728"/>
          </a:xfrm>
          <a:prstGeom prst="rect">
            <a:avLst/>
          </a:prstGeom>
          <a:noFill/>
          <a:ln/>
        </p:spPr>
        <p:txBody>
          <a:bodyPr wrap="square" lIns="63500" tIns="76200" rIns="762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Take one extra club and make a controlled, comfortable swing rather than forcing full speed.</a:t>
            </a:r>
            <a:endParaRPr lang="en-US" sz="1250" dirty="0"/>
          </a:p>
        </p:txBody>
      </p:sp>
      <p:sp>
        <p:nvSpPr>
          <p:cNvPr id="27" name="Shape 25"/>
          <p:cNvSpPr/>
          <p:nvPr/>
        </p:nvSpPr>
        <p:spPr>
          <a:xfrm>
            <a:off x="320040" y="4709160"/>
            <a:ext cx="11548872" cy="301752"/>
          </a:xfrm>
          <a:prstGeom prst="rect">
            <a:avLst/>
          </a:prstGeom>
          <a:solidFill>
            <a:srgbClr val="2D4A3E"/>
          </a:solidFill>
          <a:ln w="12700">
            <a:solidFill>
              <a:srgbClr val="2D4A3E"/>
            </a:solidFill>
            <a:prstDash val="solid"/>
          </a:ln>
        </p:spPr>
      </p:sp>
      <p:sp>
        <p:nvSpPr>
          <p:cNvPr id="28" name="Text 26"/>
          <p:cNvSpPr/>
          <p:nvPr/>
        </p:nvSpPr>
        <p:spPr>
          <a:xfrm>
            <a:off x="448056" y="4709160"/>
            <a:ext cx="11384280" cy="301752"/>
          </a:xfrm>
          <a:prstGeom prst="rect">
            <a:avLst/>
          </a:prstGeom>
          <a:noFill/>
          <a:ln/>
        </p:spPr>
        <p:txBody>
          <a:bodyPr wrap="square" lIns="0" tIns="0" rIns="0" bIns="0" rtlCol="0" anchor="ctr"/>
          <a:lstStyle/>
          <a:p>
            <a:pPr indent="0" marL="0">
              <a:buNone/>
            </a:pPr>
            <a:r>
              <a:rPr lang="en-US" sz="850" b="1" spc="200" kern="0" dirty="0">
                <a:solidFill>
                  <a:srgbClr val="D4B068"/>
                </a:solidFill>
                <a:latin typeface="Calibri" pitchFamily="34" charset="0"/>
                <a:ea typeface="Calibri" pitchFamily="34" charset="-122"/>
                <a:cs typeface="Calibri" pitchFamily="34" charset="-120"/>
              </a:rPr>
              <a:t>SUMMARY</a:t>
            </a:r>
            <a:endParaRPr lang="en-US" sz="850" dirty="0"/>
          </a:p>
        </p:txBody>
      </p:sp>
      <p:sp>
        <p:nvSpPr>
          <p:cNvPr id="29" name="Shape 27"/>
          <p:cNvSpPr/>
          <p:nvPr/>
        </p:nvSpPr>
        <p:spPr>
          <a:xfrm>
            <a:off x="320040" y="5010912"/>
            <a:ext cx="11548872" cy="1463040"/>
          </a:xfrm>
          <a:prstGeom prst="rect">
            <a:avLst/>
          </a:prstGeom>
          <a:solidFill>
            <a:srgbClr val="EDE9E1"/>
          </a:solidFill>
          <a:ln w="9525">
            <a:solidFill>
              <a:srgbClr val="E0D8CB"/>
            </a:solidFill>
            <a:prstDash val="solid"/>
          </a:ln>
        </p:spPr>
      </p:sp>
      <p:sp>
        <p:nvSpPr>
          <p:cNvPr id="30" name="Text 28"/>
          <p:cNvSpPr/>
          <p:nvPr/>
        </p:nvSpPr>
        <p:spPr>
          <a:xfrm>
            <a:off x="365760" y="5010912"/>
            <a:ext cx="11457432" cy="1463040"/>
          </a:xfrm>
          <a:prstGeom prst="rect">
            <a:avLst/>
          </a:prstGeom>
          <a:noFill/>
          <a:ln/>
        </p:spPr>
        <p:txBody>
          <a:bodyPr wrap="square" lIns="63500" tIns="101600" rIns="101600" bIns="63500" rtlCol="0" anchor="t"/>
          <a:lstStyle/>
          <a:p>
            <a:pPr indent="0" marL="0">
              <a:buNone/>
            </a:pPr>
            <a:r>
              <a:rPr lang="en-US" sz="1250" dirty="0">
                <a:solidFill>
                  <a:srgbClr val="2C2A27"/>
                </a:solidFill>
                <a:latin typeface="Calibri" pitchFamily="34" charset="0"/>
                <a:ea typeface="Calibri" pitchFamily="34" charset="-122"/>
                <a:cs typeface="Calibri" pitchFamily="34" charset="-120"/>
              </a:rPr>
              <a:t>There were a lot of positive signs today. The main improvements will come from simplifying decisions on the course, understanding carry distances better, and improving strike consistency. A full-swing video follows with more detail on technique.</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2026-05-17T16:52:42Z</dcterms:created>
  <dcterms:modified xsi:type="dcterms:W3CDTF">2026-05-17T16:52:42Z</dcterms:modified>
</cp:coreProperties>
</file>