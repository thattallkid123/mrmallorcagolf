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23560" y="0"/>
            <a:ext cx="91440" cy="51435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 Mallorca Golf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 &amp; Financial Overview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A9080"/>
                </a:solidFill>
              </a:rPr>
              <a:t>Andy Griffiths  ·  UK PGA Advanced Professional  ·  May 2026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2160" y="457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8A84B"/>
                </a:solidFill>
              </a:rPr>
              <a:t>INTERNAL WORKING DOCUMENT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216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›  Revenue streams &amp; margins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›  Tour operator pricing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›  PWAP day-fee 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›  Affiliate opportunities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›  Year 1 projections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›  Open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7A9080"/>
                </a:solidFill>
              </a:rPr>
              <a:t>BUSINESS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Mr Mallorca Golf Does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D6E8DC"/>
          </a:solidFill>
          <a:ln w="12700">
            <a:solidFill>
              <a:srgbClr val="D6E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3383280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Golf Itinerary Planning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55648"/>
            <a:ext cx="24414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2"/>
                </a:solidFill>
              </a:rPr>
              <a:t>Andy designs bespoke golf trips for individuals and groups visiting Mallorca — course selection, tee time booking, logistics and on-course advice. No cookie-cutter packages.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54864" cy="33832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48132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On-Course Professional (PWAP)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755648"/>
            <a:ext cx="24414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2"/>
                </a:solidFill>
              </a:rPr>
              <a:t>Optional add-on: Andy joins clients for all or selected rounds as their playing partner, caddie and coach. €495/day solo, €950/day group. Premium differentiator.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71600"/>
            <a:ext cx="54864" cy="3383280"/>
          </a:xfrm>
          <a:prstGeom prst="rect">
            <a:avLst/>
          </a:prstGeom>
          <a:solidFill>
            <a:srgbClr val="2C7A4A"/>
          </a:solidFill>
          <a:ln w="12700">
            <a:solidFill>
              <a:srgbClr val="2C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48132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Affiliate &amp; Referral Income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1755648"/>
            <a:ext cx="24414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22"/>
                </a:solidFill>
              </a:rPr>
              <a:t>Commission from hotels, transfers, restaurants, experiences and equipment rental recommended to clients as part of their Mallorca trip. Being built out.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080"/>
                </a:solidFill>
              </a:rPr>
              <a:t>Payments: bank transfer only. No payment gateway. No CMS. Lean by design.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A84B"/>
                </a:solidFill>
              </a:rPr>
              <a:t>REVENUE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Green Fee Margin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920240" cy="1554480"/>
          </a:xfrm>
          <a:prstGeom prst="rect">
            <a:avLst/>
          </a:prstGeom>
          <a:solidFill>
            <a:srgbClr val="4A6B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€165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Rack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80"/>
                </a:solidFill>
              </a:rPr>
              <a:t>Son Gual example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080"/>
                </a:solidFill>
              </a:rPr>
              <a:t>(peak season)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77440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8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0" y="1417320"/>
            <a:ext cx="1920240" cy="1554480"/>
          </a:xfrm>
          <a:prstGeom prst="rect">
            <a:avLst/>
          </a:prstGeom>
          <a:solidFill>
            <a:srgbClr val="3A5A4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€149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517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 Cost (TO rate)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80"/>
                </a:solidFill>
              </a:rPr>
              <a:t>10% discount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080"/>
                </a:solidFill>
              </a:rPr>
              <a:t>applied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80560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8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1920240" cy="1554480"/>
          </a:xfrm>
          <a:prstGeom prst="rect">
            <a:avLst/>
          </a:prstGeom>
          <a:solidFill>
            <a:srgbClr val="2C5F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€165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Charge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80"/>
                </a:solidFill>
              </a:rPr>
              <a:t>Rack or above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080"/>
                </a:solidFill>
              </a:rPr>
              <a:t>(or negotiated)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0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80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66560" y="1417320"/>
            <a:ext cx="1920240" cy="1554480"/>
          </a:xfrm>
          <a:prstGeom prst="rect">
            <a:avLst/>
          </a:prstGeom>
          <a:solidFill>
            <a:srgbClr val="C8A84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580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</a:rPr>
              <a:t>GF Margin pp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2800"/>
                </a:solidFill>
              </a:rPr>
              <a:t>€16 × players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2800"/>
                </a:solidFill>
              </a:rPr>
              <a:t>per round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243D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46120"/>
            <a:ext cx="54864" cy="1417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</a:rPr>
              <a:t>+ Management Fee (5% of total GF charged to client)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63931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Applied on top of GF margin when managing full bookings. Example: 7-round trip, 3 players, €3,231 total GF charged → 5% mgmt = </a:t>
            </a:r>
            <a:pPr indent="0" marL="0">
              <a:buNone/>
            </a:pPr>
            <a:r>
              <a:rPr lang="en-US" sz="1050" b="1" dirty="0">
                <a:solidFill>
                  <a:srgbClr val="C8A84B"/>
                </a:solidFill>
              </a:rPr>
              <a:t>€162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. Combined with GF margin of €327 → </a:t>
            </a:r>
            <a:pPr indent="0" marL="0">
              <a:buNone/>
            </a:pPr>
            <a:r>
              <a:rPr lang="en-US" sz="1050" b="1" dirty="0">
                <a:solidFill>
                  <a:srgbClr val="C8A84B"/>
                </a:solidFill>
              </a:rPr>
              <a:t>total trip profit €519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 before PWAP fees.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7A9080"/>
                </a:solidFill>
              </a:rPr>
              <a:t>SAMPLE BOOKING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7-Round Trip — 3 Players, Sept/Oct 2026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D6E8DC"/>
          </a:solidFill>
          <a:ln w="12700">
            <a:solidFill>
              <a:srgbClr val="D6E8D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01752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1280160"/>
                <a:gridCol w="1280160"/>
                <a:gridCol w="822960"/>
                <a:gridCol w="1005840"/>
                <a:gridCol w="100584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My Cost (3pp)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Client Fee (3pp)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Extras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GF Margin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Client Total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Son Servera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26-Sep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€315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€435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€98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€120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€560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Pula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27-Sep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€435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€435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€547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Capdepera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28-Sep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€375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€375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€478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Son Gual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29-Sep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€447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€495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€48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€614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Vall d'Or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01-Oct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€336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€396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€506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Canyamel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02-Oct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€435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€435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€76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€537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Alcanada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03-Oct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€561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€660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€84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B22"/>
                          </a:solidFill>
                        </a:rPr>
                        <a:t>€781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A2A"/>
                          </a:solidFill>
                        </a:rPr>
                        <a:t>TOTALS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A2A"/>
                          </a:solidFill>
                        </a:rPr>
                        <a:t>€2,904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A2A"/>
                          </a:solidFill>
                        </a:rPr>
                        <a:t>€3,231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A2A"/>
                          </a:solidFill>
                        </a:rPr>
                        <a:t>€600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€327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A2A"/>
                          </a:solidFill>
                        </a:rPr>
                        <a:t>€4,023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D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GF margin €327  +  5% mgmt fee €162  =  </a:t>
            </a:r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</a:rPr>
              <a:t>Trip profit €519</a:t>
            </a:r>
            <a:pPr algn="ctr" indent="0" marL="0">
              <a:buNone/>
            </a:pPr>
            <a:r>
              <a:rPr lang="en-US" sz="1100" dirty="0">
                <a:solidFill>
                  <a:srgbClr val="7A9080"/>
                </a:solidFill>
              </a:rPr>
              <a:t>  (before PWAP / Andy day fee)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A84B"/>
                </a:solidFill>
              </a:rPr>
              <a:t>PWAP — PLAYING WITH A PROFESSIONAL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Premium Add-On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840480" cy="3291840"/>
          </a:xfrm>
          <a:prstGeom prst="rect">
            <a:avLst/>
          </a:prstGeom>
          <a:solidFill>
            <a:srgbClr val="243D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84048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84B"/>
                </a:solidFill>
              </a:rPr>
              <a:t>Solo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€495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80"/>
                </a:solidFill>
              </a:rPr>
              <a:t>per 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3474720" cy="27432"/>
          </a:xfrm>
          <a:prstGeom prst="rect">
            <a:avLst/>
          </a:prstGeom>
          <a:solidFill>
            <a:srgbClr val="3A5A48"/>
          </a:solidFill>
          <a:ln w="12700">
            <a:solidFill>
              <a:srgbClr val="3A5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Andy joins one client for the full round. Personal caddie, coach and guide combined. High-touch, premium positioning.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3840480" cy="3291840"/>
          </a:xfrm>
          <a:prstGeom prst="rect">
            <a:avLst/>
          </a:prstGeom>
          <a:solidFill>
            <a:srgbClr val="243D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17320"/>
            <a:ext cx="384048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84B"/>
                </a:solidFill>
              </a:rPr>
              <a:t>Group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€950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84632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80"/>
                </a:solidFill>
              </a:rPr>
              <a:t>per day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474720" cy="27432"/>
          </a:xfrm>
          <a:prstGeom prst="rect">
            <a:avLst/>
          </a:prstGeom>
          <a:solidFill>
            <a:srgbClr val="3A5A48"/>
          </a:solidFill>
          <a:ln w="12700">
            <a:solidFill>
              <a:srgbClr val="3A5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004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Andy joins a group (2-4 players) for the full round. Splits per-player cost, still premium but more accessible.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4B"/>
                </a:solidFill>
              </a:rPr>
              <a:t>Example: 7-round trip, group fee = 7 × €950 = €6,650 PWAP income  |  Plus trip margin of €519  →  Total: ~€7,169 revenue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7A9080"/>
                </a:solidFill>
              </a:rPr>
              <a:t>REVENUE STREAMS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the Business Makes Money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D6E8DC"/>
          </a:solidFill>
          <a:ln w="12700">
            <a:solidFill>
              <a:srgbClr val="D6E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0690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600200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66160" y="1481328"/>
            <a:ext cx="749808" cy="228600"/>
          </a:xfrm>
          <a:prstGeom prst="rect">
            <a:avLst/>
          </a:prstGeom>
          <a:solidFill>
            <a:srgbClr val="2C5F3F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8132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0352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Green Fee Margin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1965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84B"/>
                </a:solidFill>
              </a:rPr>
              <a:t>0–15% on green fees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16712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Buy at TO rates (0–15% off rack), charge client rack or negotiated price. Current range: €0 (no discount) to €48pp (Son Servera). Target: avg 10–12% across portfolio.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40690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371600"/>
            <a:ext cx="54864" cy="1600200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818120" y="1481328"/>
            <a:ext cx="749808" cy="228600"/>
          </a:xfrm>
          <a:prstGeom prst="rect">
            <a:avLst/>
          </a:prstGeom>
          <a:solidFill>
            <a:srgbClr val="2C5F3F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148132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82312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Management Fee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82312" y="1965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84B"/>
                </a:solidFill>
              </a:rPr>
              <a:t>5% of total GF billed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216712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Applied on full trip bookings to reach ~15% blended margin. On a €3,231 GF trip this adds €162. Simple, defensible, common in TO industry.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40690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154680"/>
            <a:ext cx="54864" cy="1600200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566160" y="3264408"/>
            <a:ext cx="749808" cy="228600"/>
          </a:xfrm>
          <a:prstGeom prst="rect">
            <a:avLst/>
          </a:prstGeom>
          <a:solidFill>
            <a:srgbClr val="2C5F3F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26440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0352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PWAP Day Fee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3749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84B"/>
                </a:solidFill>
              </a:rPr>
              <a:t>€495 solo / €950 group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" y="39502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Premium service: Andy plays with clients. Single biggest revenue lever — one 7-day PWAP group booking = ~€6,650 vs ~€519 trip margin alone. High margin, high value.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154680"/>
            <a:ext cx="40690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154680"/>
            <a:ext cx="54864" cy="1600200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818120" y="3264408"/>
            <a:ext cx="749808" cy="2286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326440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Building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82312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Affiliates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82312" y="3749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84B"/>
                </a:solidFill>
              </a:rPr>
              <a:t>Hotels, transfers, dining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82312" y="39502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Commission income from referrals: hotels, airport transfers, restaurants, experiences, club shipping (Ship Sticks etc.). Low effort, growing. Currently being scoped.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A84B"/>
                </a:solidFill>
              </a:rPr>
              <a:t>FINANCIAL PROJECTIONS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 — Three Scenarios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080"/>
                </a:solidFill>
              </a:rPr>
              <a:t>Assumptions: 7-month season (Apr–Oct). Avg trip = 7 rounds, 3 players. GF margin avg 12%. Mgmt fee 5%. PWAP group rate €950/day.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697480" cy="3108960"/>
          </a:xfrm>
          <a:prstGeom prst="rect">
            <a:avLst/>
          </a:prstGeom>
          <a:solidFill>
            <a:srgbClr val="3A5A4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080"/>
                </a:solidFill>
              </a:rPr>
              <a:t>8 trips, no PWAP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2423160" cy="18288"/>
          </a:xfrm>
          <a:prstGeom prst="rect">
            <a:avLst/>
          </a:prstGeom>
          <a:solidFill>
            <a:srgbClr val="3A6A50"/>
          </a:solidFill>
          <a:ln w="12700">
            <a:solidFill>
              <a:srgbClr val="3A6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80"/>
                </a:solidFill>
              </a:rPr>
              <a:t>GF margin: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606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€415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53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80"/>
                </a:solidFill>
              </a:rPr>
              <a:t>Mgmt fee: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2953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€130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300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80"/>
                </a:solidFill>
              </a:rPr>
              <a:t>PWAP: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33009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€0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80"/>
                </a:solidFill>
              </a:rPr>
              <a:t>Affiliate est.: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36484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€500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50792"/>
            <a:ext cx="2514600" cy="5486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330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080"/>
                </a:solidFill>
              </a:rPr>
              <a:t>TOTAL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€1,045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46120" y="1783080"/>
            <a:ext cx="2697480" cy="3108960"/>
          </a:xfrm>
          <a:prstGeom prst="rect">
            <a:avLst/>
          </a:prstGeom>
          <a:solidFill>
            <a:srgbClr val="2C5F3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3280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080"/>
                </a:solidFill>
              </a:rPr>
              <a:t>18 trips, 6 PWAP weeks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514600"/>
            <a:ext cx="2423160" cy="18288"/>
          </a:xfrm>
          <a:prstGeom prst="rect">
            <a:avLst/>
          </a:prstGeom>
          <a:solidFill>
            <a:srgbClr val="3A6A50"/>
          </a:solidFill>
          <a:ln w="12700">
            <a:solidFill>
              <a:srgbClr val="3A6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80"/>
                </a:solidFill>
              </a:rPr>
              <a:t>GF margin: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606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€1,335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953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80"/>
                </a:solidFill>
              </a:rPr>
              <a:t>Mgmt fee: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953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€417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300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80"/>
                </a:solidFill>
              </a:rPr>
              <a:t>PWAP: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3009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€39,900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80"/>
                </a:solidFill>
              </a:rPr>
              <a:t>Affiliate est.: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6484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€2,000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4050792"/>
            <a:ext cx="2514600" cy="5486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1330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080"/>
                </a:solidFill>
              </a:rPr>
              <a:t>TOTAL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€43,651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126480" y="1783080"/>
            <a:ext cx="2697480" cy="3108960"/>
          </a:xfrm>
          <a:prstGeom prst="rect">
            <a:avLst/>
          </a:prstGeom>
          <a:solidFill>
            <a:srgbClr val="C8A84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63640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Year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63640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4200"/>
                </a:solidFill>
              </a:rPr>
              <a:t>30 trips, 14 PWAP weeks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2514600"/>
            <a:ext cx="2423160" cy="18288"/>
          </a:xfrm>
          <a:prstGeom prst="rect">
            <a:avLst/>
          </a:prstGeom>
          <a:solidFill>
            <a:srgbClr val="8A6A00"/>
          </a:solidFill>
          <a:ln w="12700">
            <a:solidFill>
              <a:srgbClr val="3A6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200"/>
                </a:solidFill>
              </a:rPr>
              <a:t>GF margin: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35240" y="2606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A2A"/>
                </a:solidFill>
              </a:rPr>
              <a:t>€2,224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2953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200"/>
                </a:solidFill>
              </a:rPr>
              <a:t>Mgmt fee: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35240" y="2953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A2A"/>
                </a:solidFill>
              </a:rPr>
              <a:t>€694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3300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200"/>
                </a:solidFill>
              </a:rPr>
              <a:t>PWAP: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35240" y="33009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A2A"/>
                </a:solidFill>
              </a:rPr>
              <a:t>€93,100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63640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200"/>
                </a:solidFill>
              </a:rPr>
              <a:t>Affiliate est.: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35240" y="36484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A2A"/>
                </a:solidFill>
              </a:rPr>
              <a:t>€5,000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4050792"/>
            <a:ext cx="2514600" cy="54864"/>
          </a:xfrm>
          <a:prstGeom prst="rect">
            <a:avLst/>
          </a:prstGeom>
          <a:solidFill>
            <a:srgbClr val="8A6A00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41330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4200"/>
                </a:solidFill>
              </a:rPr>
              <a:t>TOTAL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6364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€101,019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7A9080"/>
                </a:solidFill>
              </a:rPr>
              <a:t>AFFILIATE INCOME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Referral Opportunity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D6E8DC"/>
          </a:solidFill>
          <a:ln w="12700">
            <a:solidFill>
              <a:srgbClr val="D6E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22"/>
                </a:solidFill>
              </a:rPr>
              <a:t>Every client needs more than tee times. Andy is already the trusted point of contact — referral income is the natural extension.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2697480" cy="6400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Hotels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3F"/>
                </a:solidFill>
              </a:rPr>
              <a:t>€300–800/trip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22"/>
                </a:solidFill>
              </a:rPr>
              <a:t>Partner with 3–5 premium hotels across the island. Typical affiliate commission 8–12% of room revenue.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828800"/>
            <a:ext cx="2697480" cy="64008"/>
          </a:xfrm>
          <a:prstGeom prst="rect">
            <a:avLst/>
          </a:prstGeom>
          <a:solidFill>
            <a:srgbClr val="2C7A4A"/>
          </a:solidFill>
          <a:ln w="12700">
            <a:solidFill>
              <a:srgbClr val="2C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Airport Transfers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3F"/>
                </a:solidFill>
              </a:rPr>
              <a:t>€20–50/trip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2494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22"/>
                </a:solidFill>
              </a:rPr>
              <a:t>Refer to quality private transfer operators. Commission ~10–15%. Easy win — every client needs this.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828800"/>
            <a:ext cx="269748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Restaurants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938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A84B"/>
                </a:solidFill>
              </a:rPr>
              <a:t>€30–100/trip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2494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22"/>
                </a:solidFill>
              </a:rPr>
              <a:t>Curated dinner recommendations. Revenue share or fixed referral fee per seated group.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37560"/>
            <a:ext cx="2697480" cy="6400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Experiences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3F"/>
                </a:solidFill>
              </a:rPr>
              <a:t>€50–200/trip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75818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22"/>
                </a:solidFill>
              </a:rPr>
              <a:t>Boat trips, wine tours, cycling, spa. Mallorca has strong affiliate networks. Commission 10–15%.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333756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337560"/>
            <a:ext cx="2697480" cy="64008"/>
          </a:xfrm>
          <a:prstGeom prst="rect">
            <a:avLst/>
          </a:prstGeom>
          <a:solidFill>
            <a:srgbClr val="2C7A4A"/>
          </a:solidFill>
          <a:ln w="12700">
            <a:solidFill>
              <a:srgbClr val="2C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Club Shipping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3F"/>
                </a:solidFill>
              </a:rPr>
              <a:t>€30–60/booking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375818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22"/>
                </a:solidFill>
              </a:rPr>
              <a:t>Ship Sticks / similar — refer clients who don't want to travel with clubs. Flat referral fee per booking.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333756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3337560"/>
            <a:ext cx="269748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</a:rPr>
              <a:t>Club Hire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A84B"/>
                </a:solidFill>
              </a:rPr>
              <a:t>€40–80/booking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375818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22"/>
                </a:solidFill>
              </a:rPr>
              <a:t>Affiliate arrangement with quality rental provider on-island. Blog already drives traffic for this term.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8A84B"/>
                </a:solidFill>
              </a:rPr>
              <a:t>RISKS &amp; QUESTIONS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Needs Resolving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1051560"/>
          </a:xfrm>
          <a:prstGeom prst="rect">
            <a:avLst/>
          </a:prstGeom>
          <a:solidFill>
            <a:srgbClr val="243D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 Prebooking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Can Andy prebook tee times without a client deposit? What are cancellation windows per course? Needs direct negotiation.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1051560"/>
          </a:xfrm>
          <a:prstGeom prst="rect">
            <a:avLst/>
          </a:prstGeom>
          <a:solidFill>
            <a:srgbClr val="243D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54864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 TO rate access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783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Some courses (Capdepera, Pula, Andratx) give 0% discount. Negotiating better terms is a priority — even 5% makes a material difference at volume.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4114800" cy="1051560"/>
          </a:xfrm>
          <a:prstGeom prst="rect">
            <a:avLst/>
          </a:prstGeom>
          <a:solidFill>
            <a:srgbClr val="243D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06040"/>
            <a:ext cx="54864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 Seasonal concentration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Season runs ~Apr–Oct. 7 months of revenue has to cover 12 months of costs. Low fixed costs help but cash flow planning needed.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06040"/>
            <a:ext cx="4114800" cy="1051560"/>
          </a:xfrm>
          <a:prstGeom prst="rect">
            <a:avLst/>
          </a:prstGeom>
          <a:solidFill>
            <a:srgbClr val="243D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606040"/>
            <a:ext cx="54864" cy="10515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B"/>
                </a:solidFill>
              </a:rPr>
              <a:t>? Affiliate setup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Affiliate income requires outreach, agreements, and tech integration. Won't materialise immediately.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4114800" cy="1051560"/>
          </a:xfrm>
          <a:prstGeom prst="rect">
            <a:avLst/>
          </a:prstGeom>
          <a:solidFill>
            <a:srgbClr val="243D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94760"/>
            <a:ext cx="54864" cy="10515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B"/>
                </a:solidFill>
              </a:rPr>
              <a:t>? Newsletter value prop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4160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What does the newsletter actually offer? Deal alerts, course tips, exclusives? Needed before pushing sign-ups harder.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794760"/>
            <a:ext cx="4114800" cy="1051560"/>
          </a:xfrm>
          <a:prstGeom prst="rect">
            <a:avLst/>
          </a:prstGeom>
          <a:solidFill>
            <a:srgbClr val="243D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794760"/>
            <a:ext cx="54864" cy="10515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B"/>
                </a:solidFill>
              </a:rPr>
              <a:t>? Scottish TO benchmark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4160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Research Scottish golf tour operators as a financial model reference — pricing, margins, volume. Useful comparator.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73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080"/>
                </a:solidFill>
              </a:rPr>
              <a:t>Red = business risk requiring action  ·  Gold = open question requiring a decision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7A9080"/>
                </a:solidFill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Actions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D6E8DC"/>
          </a:solidFill>
          <a:ln w="12700">
            <a:solidFill>
              <a:srgbClr val="D6E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406908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02412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463040"/>
            <a:ext cx="411480" cy="320040"/>
          </a:xfrm>
          <a:prstGeom prst="ellipse">
            <a:avLst/>
          </a:prstGeom>
          <a:solidFill>
            <a:srgbClr val="2C5F3F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463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463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2A"/>
                </a:solidFill>
              </a:rPr>
              <a:t>Negotiate TO rates with remaining courses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1847088"/>
            <a:ext cx="658368" cy="201168"/>
          </a:xfrm>
          <a:prstGeom prst="rect">
            <a:avLst/>
          </a:prstGeom>
          <a:solidFill>
            <a:srgbClr val="D6E8D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8470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3F"/>
                </a:solidFill>
              </a:rPr>
              <a:t>Now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" y="179222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Focus on Capdepera, Pula, Andratx — currently 0% discount. Even 5% changes unit economics materially.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406908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371600"/>
            <a:ext cx="54864" cy="102412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463040"/>
            <a:ext cx="411480" cy="320040"/>
          </a:xfrm>
          <a:prstGeom prst="ellipse">
            <a:avLst/>
          </a:prstGeom>
          <a:solidFill>
            <a:srgbClr val="2C5F3F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1463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82312" y="1463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2A"/>
                </a:solidFill>
              </a:rPr>
              <a:t>Define prebooking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9560" y="1847088"/>
            <a:ext cx="658368" cy="201168"/>
          </a:xfrm>
          <a:prstGeom prst="rect">
            <a:avLst/>
          </a:prstGeom>
          <a:solidFill>
            <a:srgbClr val="D6E8DC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18470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3F"/>
                </a:solidFill>
              </a:rPr>
              <a:t>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82312" y="179222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Talk to courses re: cancellation windows. Can Andy hold tee times without client payment? What deposit is needed?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406908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560320"/>
            <a:ext cx="54864" cy="102412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2651760"/>
            <a:ext cx="411480" cy="320040"/>
          </a:xfrm>
          <a:prstGeom prst="ellipse">
            <a:avLst/>
          </a:prstGeom>
          <a:solidFill>
            <a:srgbClr val="2C5F3F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651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26517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2A"/>
                </a:solidFill>
              </a:rPr>
              <a:t>Build affiliate relationships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0" y="3035808"/>
            <a:ext cx="658368" cy="201168"/>
          </a:xfrm>
          <a:prstGeom prst="rect">
            <a:avLst/>
          </a:prstGeom>
          <a:solidFill>
            <a:srgbClr val="D6E8D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0358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3F"/>
                </a:solidFill>
              </a:rPr>
              <a:t>Q3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0352" y="298094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Hotels, transfers, restaurants. Start with 2–3 key partners. Set up tracking links or simple referral agreements.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2560320"/>
            <a:ext cx="406908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560320"/>
            <a:ext cx="54864" cy="102412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651760"/>
            <a:ext cx="411480" cy="320040"/>
          </a:xfrm>
          <a:prstGeom prst="ellipse">
            <a:avLst/>
          </a:prstGeom>
          <a:solidFill>
            <a:srgbClr val="2C5F3F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2651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82312" y="26517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2A"/>
                </a:solidFill>
              </a:rPr>
              <a:t>Financial model spreadsheet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09560" y="3035808"/>
            <a:ext cx="658368" cy="201168"/>
          </a:xfrm>
          <a:prstGeom prst="rect">
            <a:avLst/>
          </a:prstGeom>
          <a:solidFill>
            <a:srgbClr val="D6E8DC"/>
          </a:solidFill>
          <a:ln/>
        </p:spPr>
      </p:sp>
      <p:sp>
        <p:nvSpPr>
          <p:cNvPr id="36" name="Text 34"/>
          <p:cNvSpPr/>
          <p:nvPr/>
        </p:nvSpPr>
        <p:spPr>
          <a:xfrm>
            <a:off x="7909560" y="30358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3F"/>
                </a:solidFill>
              </a:rPr>
              <a:t>Q3 2026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82312" y="298094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Formalise the projections — seasonal bookings tracker, cost base, break-even analysis.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749040"/>
            <a:ext cx="406908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749040"/>
            <a:ext cx="54864" cy="102412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9040" y="3840480"/>
            <a:ext cx="411480" cy="320040"/>
          </a:xfrm>
          <a:prstGeom prst="ellipse">
            <a:avLst/>
          </a:prstGeom>
          <a:solidFill>
            <a:srgbClr val="2C5F3F"/>
          </a:solidFill>
          <a:ln/>
        </p:spPr>
      </p:sp>
      <p:sp>
        <p:nvSpPr>
          <p:cNvPr id="41" name="Text 39"/>
          <p:cNvSpPr/>
          <p:nvPr/>
        </p:nvSpPr>
        <p:spPr>
          <a:xfrm>
            <a:off x="3749040" y="3840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" y="38404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2A"/>
                </a:solidFill>
              </a:rPr>
              <a:t>Research Scottish tour operators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0" y="4224528"/>
            <a:ext cx="658368" cy="201168"/>
          </a:xfrm>
          <a:prstGeom prst="rect">
            <a:avLst/>
          </a:prstGeom>
          <a:solidFill>
            <a:srgbClr val="D6E8DC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0" y="42245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3F"/>
                </a:solidFill>
              </a:rPr>
              <a:t>Q3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0352" y="416966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Benchmark margins, volume, pricing models. Use as reference for where this business can go.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3749040"/>
            <a:ext cx="406908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749040"/>
            <a:ext cx="54864" cy="1024128"/>
          </a:xfrm>
          <a:prstGeom prst="rect">
            <a:avLst/>
          </a:prstGeom>
          <a:solidFill>
            <a:srgbClr val="2C5F3F"/>
          </a:solidFill>
          <a:ln w="12700">
            <a:solidFill>
              <a:srgbClr val="2C5F3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01000" y="3840480"/>
            <a:ext cx="411480" cy="320040"/>
          </a:xfrm>
          <a:prstGeom prst="ellipse">
            <a:avLst/>
          </a:prstGeom>
          <a:solidFill>
            <a:srgbClr val="2C5F3F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0" y="3840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82312" y="38404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2A"/>
                </a:solidFill>
              </a:rPr>
              <a:t>Newsletter value prop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909560" y="4224528"/>
            <a:ext cx="658368" cy="201168"/>
          </a:xfrm>
          <a:prstGeom prst="rect">
            <a:avLst/>
          </a:prstGeom>
          <a:solidFill>
            <a:srgbClr val="D6E8DC"/>
          </a:solidFill>
          <a:ln/>
        </p:spPr>
      </p:sp>
      <p:sp>
        <p:nvSpPr>
          <p:cNvPr id="52" name="Text 50"/>
          <p:cNvSpPr/>
          <p:nvPr/>
        </p:nvSpPr>
        <p:spPr>
          <a:xfrm>
            <a:off x="7909560" y="42245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3F"/>
                </a:solidFill>
              </a:rPr>
              <a:t>When ready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82312" y="416966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</a:rPr>
              <a:t>Decide what subscribers actually get. Required before scaling email list growth.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 Mallorca Golf — Business Model</dc:title>
  <dc:subject>PptxGenJS Presentation</dc:subject>
  <dc:creator>PptxGenJS</dc:creator>
  <cp:lastModifiedBy>PptxGenJS</cp:lastModifiedBy>
  <cp:revision>1</cp:revision>
  <dcterms:created xsi:type="dcterms:W3CDTF">2026-05-11T23:29:43Z</dcterms:created>
  <dcterms:modified xsi:type="dcterms:W3CDTF">2026-05-11T23:29:43Z</dcterms:modified>
</cp:coreProperties>
</file>